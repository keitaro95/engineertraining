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17229" y="200025"/>
            <a:ext cx="4909542" cy="2376553"/>
          </a:xfrm>
          <a:prstGeom prst="rect">
            <a:avLst/>
          </a:prstGeom>
          <a:solidFill>
            <a:srgbClr val="FFFFFF">
              <a:alpha val="90000"/>
            </a:srgbClr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474416" y="934966"/>
            <a:ext cx="4195167" cy="548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FastAPIの心臓部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2474416" y="1626459"/>
            <a:ext cx="4195167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052C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プロセス・スレッド・イベントループの</a:t>
            </a:r>
            <a:pPr algn="ctr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052C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</a:t>
            </a:r>
            <a:pPr algn="ctr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052C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「箱」で紐解く仕組み</a:t>
            </a:r>
            <a:endParaRPr lang="en-US" sz="1704" dirty="0"/>
          </a:p>
        </p:txBody>
      </p:sp>
      <p:sp>
        <p:nvSpPr>
          <p:cNvPr id="6" name="Text 3"/>
          <p:cNvSpPr/>
          <p:nvPr/>
        </p:nvSpPr>
        <p:spPr>
          <a:xfrm>
            <a:off x="3452217" y="4793456"/>
            <a:ext cx="22395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2026.03.09 | Engineering Insights</a:t>
            </a:r>
            <a:endParaRPr lang="en-US" sz="83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0075" y="639784"/>
            <a:ext cx="8515350" cy="33039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メモリの「大きな箱」：プロセス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600075" y="1541683"/>
            <a:ext cx="38290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サーバーが起動すると、まずメモリの中に「プロセス」という大きな箱が作られます。これがアプリケーションが動作するための独立した実行単位となります。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03647" y="2516805"/>
            <a:ext cx="1058921" cy="282876"/>
          </a:xfrm>
          <a:prstGeom prst="rect">
            <a:avLst/>
          </a:prstGeom>
          <a:solidFill>
            <a:srgbClr val="1A1A1A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3647" y="2516805"/>
            <a:ext cx="1058921" cy="282876"/>
          </a:xfrm>
          <a:prstGeom prst="rect">
            <a:avLst/>
          </a:prstGeom>
          <a:noFill/>
          <a:ln/>
        </p:spPr>
        <p:txBody>
          <a:bodyPr wrap="square" lIns="127508" tIns="102108" rIns="127508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項目</a:t>
            </a:r>
            <a:endParaRPr lang="en-US" sz="784" dirty="0"/>
          </a:p>
        </p:txBody>
      </p:sp>
      <p:sp>
        <p:nvSpPr>
          <p:cNvPr id="7" name="Shape 4"/>
          <p:cNvSpPr/>
          <p:nvPr/>
        </p:nvSpPr>
        <p:spPr>
          <a:xfrm>
            <a:off x="1662568" y="2516805"/>
            <a:ext cx="2762985" cy="282876"/>
          </a:xfrm>
          <a:prstGeom prst="rect">
            <a:avLst/>
          </a:prstGeom>
          <a:solidFill>
            <a:srgbClr val="1A1A1A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62568" y="2516805"/>
            <a:ext cx="2762985" cy="282876"/>
          </a:xfrm>
          <a:prstGeom prst="rect">
            <a:avLst/>
          </a:prstGeom>
          <a:noFill/>
          <a:ln/>
        </p:spPr>
        <p:txBody>
          <a:bodyPr wrap="square" lIns="127508" tIns="102108" rIns="127508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内容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714375" y="2890763"/>
            <a:ext cx="792956" cy="347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ワーカープロセス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1662568" y="2792537"/>
            <a:ext cx="2762985" cy="465739"/>
          </a:xfrm>
          <a:prstGeom prst="rect">
            <a:avLst/>
          </a:prstGeom>
          <a:noFill/>
          <a:ln/>
        </p:spPr>
        <p:txBody>
          <a:bodyPr wrap="square" lIns="127508" tIns="102108" rIns="127508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`uvicorn --workers 4` 指定で箱が4つ生成。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714375" y="3447920"/>
            <a:ext cx="3429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独立性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1662568" y="3258276"/>
            <a:ext cx="2762985" cy="465739"/>
          </a:xfrm>
          <a:prstGeom prst="rect">
            <a:avLst/>
          </a:prstGeom>
          <a:noFill/>
          <a:ln/>
        </p:spPr>
        <p:txBody>
          <a:bodyPr wrap="square" lIns="127508" tIns="102108" rIns="127508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各プロセスは壁で仕切られ、メモリを共有しません。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714375" y="3913659"/>
            <a:ext cx="3429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堅牢性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1662568" y="3724015"/>
            <a:ext cx="2762985" cy="465739"/>
          </a:xfrm>
          <a:prstGeom prst="rect">
            <a:avLst/>
          </a:prstGeom>
          <a:noFill/>
          <a:ln/>
        </p:spPr>
        <p:txBody>
          <a:bodyPr wrap="square" lIns="127508" tIns="102108" rIns="127508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1つがクラッシュしても、他は影響を受けません。</a:t>
            </a:r>
            <a:endParaRPr lang="en-US" sz="834" dirty="0"/>
          </a:p>
        </p:txBody>
      </p:sp>
      <p:sp>
        <p:nvSpPr>
          <p:cNvPr id="15" name="Shape 12"/>
          <p:cNvSpPr/>
          <p:nvPr/>
        </p:nvSpPr>
        <p:spPr>
          <a:xfrm>
            <a:off x="4714875" y="1398808"/>
            <a:ext cx="3829050" cy="3209330"/>
          </a:xfrm>
          <a:prstGeom prst="rect">
            <a:avLst/>
          </a:prstGeom>
          <a:solidFill>
            <a:srgbClr val="F9F9F9"/>
          </a:solidFill>
          <a:ln w="18288">
            <a:solidFill>
              <a:srgbClr val="1A1A1A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4929188" y="1727420"/>
            <a:ext cx="340042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Memory Space (OS)</a:t>
            </a:r>
            <a:endParaRPr lang="en-US" sz="784" dirty="0"/>
          </a:p>
        </p:txBody>
      </p:sp>
      <p:sp>
        <p:nvSpPr>
          <p:cNvPr id="17" name="Shape 14"/>
          <p:cNvSpPr/>
          <p:nvPr/>
        </p:nvSpPr>
        <p:spPr>
          <a:xfrm>
            <a:off x="5802511" y="2106039"/>
            <a:ext cx="742950" cy="88582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02511" y="2106039"/>
            <a:ext cx="742950" cy="88582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Worker 1</a:t>
            </a:r>
            <a:endParaRPr lang="en-US" sz="727" dirty="0"/>
          </a:p>
        </p:txBody>
      </p:sp>
      <p:sp>
        <p:nvSpPr>
          <p:cNvPr id="19" name="Shape 16"/>
          <p:cNvSpPr/>
          <p:nvPr/>
        </p:nvSpPr>
        <p:spPr>
          <a:xfrm>
            <a:off x="6699052" y="2106039"/>
            <a:ext cx="742950" cy="88582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99052" y="2106039"/>
            <a:ext cx="742950" cy="88582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Worker 2</a:t>
            </a:r>
            <a:endParaRPr lang="en-US" sz="727" dirty="0"/>
          </a:p>
        </p:txBody>
      </p:sp>
      <p:sp>
        <p:nvSpPr>
          <p:cNvPr id="21" name="Shape 18"/>
          <p:cNvSpPr/>
          <p:nvPr/>
        </p:nvSpPr>
        <p:spPr>
          <a:xfrm>
            <a:off x="5802511" y="3106164"/>
            <a:ext cx="742950" cy="88582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02511" y="3106164"/>
            <a:ext cx="742950" cy="88582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Worker 3</a:t>
            </a:r>
            <a:endParaRPr lang="en-US" sz="727" dirty="0"/>
          </a:p>
        </p:txBody>
      </p:sp>
      <p:sp>
        <p:nvSpPr>
          <p:cNvPr id="23" name="Shape 20"/>
          <p:cNvSpPr/>
          <p:nvPr/>
        </p:nvSpPr>
        <p:spPr>
          <a:xfrm>
            <a:off x="6699052" y="3106164"/>
            <a:ext cx="742950" cy="88582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99052" y="3106164"/>
            <a:ext cx="742950" cy="88582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Worker 4</a:t>
            </a:r>
            <a:endParaRPr lang="en-US" sz="727" dirty="0"/>
          </a:p>
        </p:txBody>
      </p:sp>
      <p:sp>
        <p:nvSpPr>
          <p:cNvPr id="25" name="Text 22"/>
          <p:cNvSpPr/>
          <p:nvPr/>
        </p:nvSpPr>
        <p:spPr>
          <a:xfrm>
            <a:off x="4929188" y="4134864"/>
            <a:ext cx="3400425" cy="287536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52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各ワーカーは完全に独立した「箱」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0075" y="646928"/>
            <a:ext cx="8515350" cy="33039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プロセスの中の「小さな箱」：スレッドとループ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600075" y="1298795"/>
            <a:ext cx="35134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1つのプロセスの中をのぞくと、さらに役割の違う「箱」に分かれています。ここがFastAPIの心臓部です。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885825" y="2127470"/>
            <a:ext cx="2941913" cy="771525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6" name="Shape 3"/>
          <p:cNvSpPr/>
          <p:nvPr/>
        </p:nvSpPr>
        <p:spPr>
          <a:xfrm>
            <a:off x="885825" y="2127470"/>
            <a:ext cx="28575" cy="77152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7" name="Text 4"/>
          <p:cNvSpPr/>
          <p:nvPr/>
        </p:nvSpPr>
        <p:spPr>
          <a:xfrm>
            <a:off x="885825" y="2127470"/>
            <a:ext cx="2941913" cy="771525"/>
          </a:xfrm>
          <a:prstGeom prst="rect">
            <a:avLst/>
          </a:prstGeom>
          <a:noFill/>
          <a:ln/>
        </p:spPr>
        <p:txBody>
          <a:bodyPr wrap="square" lIns="170053" tIns="102108" rIns="170053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i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1つのプロセス内には、主に「イベントループ」と「スレッドプール」という2つの異なる実行領域が存在します。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00075" y="3041870"/>
            <a:ext cx="35134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この2つの箱を適切に使い分けることで、数万もの同時接続を効率的にさばくことが可能になります。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7801" y="1155920"/>
            <a:ext cx="4216124" cy="248602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34957" y="1227358"/>
            <a:ext cx="1396603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Worker Process (Inside)</a:t>
            </a:r>
            <a:endParaRPr lang="en-US" sz="683" dirty="0"/>
          </a:p>
        </p:txBody>
      </p:sp>
      <p:sp>
        <p:nvSpPr>
          <p:cNvPr id="11" name="Shape 8"/>
          <p:cNvSpPr/>
          <p:nvPr/>
        </p:nvSpPr>
        <p:spPr>
          <a:xfrm>
            <a:off x="4542113" y="1384520"/>
            <a:ext cx="3787499" cy="648295"/>
          </a:xfrm>
          <a:prstGeom prst="rect">
            <a:avLst/>
          </a:prstGeom>
          <a:solidFill>
            <a:srgbClr val="E6F0FF"/>
          </a:solidFill>
          <a:ln w="18288">
            <a:solidFill>
              <a:srgbClr val="0052CC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4684988" y="1470245"/>
            <a:ext cx="3501749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イベントループ（メインスレッド）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4684988" y="1714919"/>
            <a:ext cx="3501749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「超高速な1人の指揮者」がいる場所。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async def 関数の実行を担当。</a:t>
            </a:r>
            <a:endParaRPr lang="en-US" sz="727" dirty="0"/>
          </a:p>
        </p:txBody>
      </p:sp>
      <p:sp>
        <p:nvSpPr>
          <p:cNvPr id="14" name="Shape 11"/>
          <p:cNvSpPr/>
          <p:nvPr/>
        </p:nvSpPr>
        <p:spPr>
          <a:xfrm>
            <a:off x="4542113" y="2089965"/>
            <a:ext cx="3787499" cy="648295"/>
          </a:xfrm>
          <a:prstGeom prst="rect">
            <a:avLst/>
          </a:prstGeom>
          <a:solidFill>
            <a:srgbClr val="F5F5F5"/>
          </a:solidFill>
          <a:ln w="18288">
            <a:solidFill>
              <a:srgbClr val="333333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4684988" y="2175690"/>
            <a:ext cx="3501749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スレッドプール（サブスレッド）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4684988" y="2420364"/>
            <a:ext cx="3501749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「40人の力仕事担当」が待機している部屋。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普通の def 関数の実行を担当。</a:t>
            </a:r>
            <a:endParaRPr lang="en-US" sz="72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0075" y="646928"/>
            <a:ext cx="8515350" cy="33039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イベントループ：超高速な「指揮者」の役割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600075" y="1234501"/>
            <a:ext cx="2562206" cy="1585913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2950" y="1505964"/>
            <a:ext cx="227645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01. 役割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742950" y="1791714"/>
            <a:ext cx="227645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全てのリクエストの受付窓口となり、`async def`で定義された関数を直接実行します。</a:t>
            </a:r>
            <a:endParaRPr lang="en-US" sz="834" dirty="0"/>
          </a:p>
        </p:txBody>
      </p:sp>
      <p:sp>
        <p:nvSpPr>
          <p:cNvPr id="7" name="Shape 4"/>
          <p:cNvSpPr/>
          <p:nvPr/>
        </p:nvSpPr>
        <p:spPr>
          <a:xfrm>
            <a:off x="3290869" y="1234501"/>
            <a:ext cx="2562234" cy="1585913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33744" y="1505964"/>
            <a:ext cx="227648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02. 特徴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3433744" y="1791714"/>
            <a:ext cx="2276484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メモリ消費が少なく、多数のタスクを「切り替え」て高速に処理します。</a:t>
            </a:r>
            <a:endParaRPr lang="en-US" sz="834" dirty="0"/>
          </a:p>
        </p:txBody>
      </p:sp>
      <p:sp>
        <p:nvSpPr>
          <p:cNvPr id="10" name="Shape 7"/>
          <p:cNvSpPr/>
          <p:nvPr/>
        </p:nvSpPr>
        <p:spPr>
          <a:xfrm>
            <a:off x="5981691" y="1234501"/>
            <a:ext cx="2562206" cy="1585913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4566" y="1505964"/>
            <a:ext cx="227645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03. 仕組み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6124566" y="1791714"/>
            <a:ext cx="227645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I/O待ち発生時に即座に別タスクへ切替え、時間を有効活用します。</a:t>
            </a:r>
            <a:endParaRPr lang="en-US" sz="834" dirty="0"/>
          </a:p>
        </p:txBody>
      </p:sp>
      <p:sp>
        <p:nvSpPr>
          <p:cNvPr id="13" name="Shape 10"/>
          <p:cNvSpPr/>
          <p:nvPr/>
        </p:nvSpPr>
        <p:spPr>
          <a:xfrm>
            <a:off x="600075" y="2963289"/>
            <a:ext cx="7943850" cy="794742"/>
          </a:xfrm>
          <a:prstGeom prst="rect">
            <a:avLst/>
          </a:prstGeom>
          <a:solidFill>
            <a:srgbClr val="FFF0F0"/>
          </a:solidFill>
          <a:ln w="18288">
            <a:solidFill>
              <a:srgbClr val="FF0000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771525" y="3163314"/>
            <a:ext cx="221099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⚠️ 注意点：指揮者を止めないこと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771525" y="3484783"/>
            <a:ext cx="760095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ここで重い処理（`time.sleep`や巨大な計算）を行うと、指揮者が止まり、全リクエストが停止します。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0075" y="646928"/>
            <a:ext cx="8515350" cy="33039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スレッドプール：40人の「力仕事担当」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600075" y="1191639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スレッドプールは、デフォルトで「40人の力仕事担当」が待機している部屋のような場所です。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00075" y="1791714"/>
            <a:ext cx="3886200" cy="980480"/>
          </a:xfrm>
          <a:prstGeom prst="rect">
            <a:avLst/>
          </a:prstGeom>
          <a:solidFill>
            <a:srgbClr val="F9F9F9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2950" y="2002455"/>
            <a:ext cx="33218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役割: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1075134" y="2002455"/>
            <a:ext cx="49291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普通の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568053" y="2016742"/>
            <a:ext cx="2571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def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825228" y="2002455"/>
            <a:ext cx="1175147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関数の実行を担当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42950" y="2372144"/>
            <a:ext cx="36004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特徴: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1つのタスクに1人のスレッドを専有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600075" y="2768622"/>
            <a:ext cx="2571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def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57250" y="2754334"/>
            <a:ext cx="344685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エンドポイントが呼ばれると、イベントループは「こ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0075" y="2991864"/>
            <a:ext cx="383798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れ、スレッドプールの誰かやって！」と仕事を投げます。こ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00075" y="3220464"/>
            <a:ext cx="889397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れが内部的な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489472" y="3220464"/>
            <a:ext cx="132338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run_in_threadpool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2812852" y="3220464"/>
            <a:ext cx="101798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の仕組みです。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657725" y="1048764"/>
            <a:ext cx="3886200" cy="2532459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72038" y="1134489"/>
            <a:ext cx="34575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Thread Pool (Default: 40 Threads)</a:t>
            </a:r>
            <a:endParaRPr lang="en-US" sz="784" dirty="0"/>
          </a:p>
        </p:txBody>
      </p:sp>
      <p:sp>
        <p:nvSpPr>
          <p:cNvPr id="19" name="Shape 16"/>
          <p:cNvSpPr/>
          <p:nvPr/>
        </p:nvSpPr>
        <p:spPr>
          <a:xfrm>
            <a:off x="4872038" y="1355945"/>
            <a:ext cx="271463" cy="271463"/>
          </a:xfrm>
          <a:prstGeom prst="rect">
            <a:avLst/>
          </a:prstGeom>
          <a:solidFill>
            <a:srgbClr val="0052CC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72038" y="1355945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T1</a:t>
            </a:r>
            <a:endParaRPr lang="en-US" sz="516" dirty="0"/>
          </a:p>
        </p:txBody>
      </p:sp>
      <p:sp>
        <p:nvSpPr>
          <p:cNvPr id="21" name="Shape 18"/>
          <p:cNvSpPr/>
          <p:nvPr/>
        </p:nvSpPr>
        <p:spPr>
          <a:xfrm>
            <a:off x="5309592" y="1355945"/>
            <a:ext cx="271463" cy="271463"/>
          </a:xfrm>
          <a:prstGeom prst="rect">
            <a:avLst/>
          </a:prstGeom>
          <a:solidFill>
            <a:srgbClr val="0052CC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09592" y="1355945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T2</a:t>
            </a:r>
            <a:endParaRPr lang="en-US" sz="516" dirty="0"/>
          </a:p>
        </p:txBody>
      </p:sp>
      <p:sp>
        <p:nvSpPr>
          <p:cNvPr id="23" name="Shape 20"/>
          <p:cNvSpPr/>
          <p:nvPr/>
        </p:nvSpPr>
        <p:spPr>
          <a:xfrm>
            <a:off x="5747147" y="1355945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47147" y="1355945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T3</a:t>
            </a:r>
            <a:endParaRPr lang="en-US" sz="516" dirty="0"/>
          </a:p>
        </p:txBody>
      </p:sp>
      <p:sp>
        <p:nvSpPr>
          <p:cNvPr id="25" name="Shape 22"/>
          <p:cNvSpPr/>
          <p:nvPr/>
        </p:nvSpPr>
        <p:spPr>
          <a:xfrm>
            <a:off x="6184702" y="1355945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84702" y="1355945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T4</a:t>
            </a:r>
            <a:endParaRPr lang="en-US" sz="516" dirty="0"/>
          </a:p>
        </p:txBody>
      </p:sp>
      <p:sp>
        <p:nvSpPr>
          <p:cNvPr id="27" name="Shape 24"/>
          <p:cNvSpPr/>
          <p:nvPr/>
        </p:nvSpPr>
        <p:spPr>
          <a:xfrm>
            <a:off x="6622256" y="1355945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22256" y="1355945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T5</a:t>
            </a:r>
            <a:endParaRPr lang="en-US" sz="516" dirty="0"/>
          </a:p>
        </p:txBody>
      </p:sp>
      <p:sp>
        <p:nvSpPr>
          <p:cNvPr id="29" name="Shape 26"/>
          <p:cNvSpPr/>
          <p:nvPr/>
        </p:nvSpPr>
        <p:spPr>
          <a:xfrm>
            <a:off x="7059811" y="1355945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059811" y="1355945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T6</a:t>
            </a:r>
            <a:endParaRPr lang="en-US" sz="516" dirty="0"/>
          </a:p>
        </p:txBody>
      </p:sp>
      <p:sp>
        <p:nvSpPr>
          <p:cNvPr id="31" name="Shape 28"/>
          <p:cNvSpPr/>
          <p:nvPr/>
        </p:nvSpPr>
        <p:spPr>
          <a:xfrm>
            <a:off x="7497366" y="1355945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497366" y="1355945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T7</a:t>
            </a:r>
            <a:endParaRPr lang="en-US" sz="516" dirty="0"/>
          </a:p>
        </p:txBody>
      </p:sp>
      <p:sp>
        <p:nvSpPr>
          <p:cNvPr id="33" name="Shape 30"/>
          <p:cNvSpPr/>
          <p:nvPr/>
        </p:nvSpPr>
        <p:spPr>
          <a:xfrm>
            <a:off x="7934920" y="1355945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934920" y="1355945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T8</a:t>
            </a:r>
            <a:endParaRPr lang="en-US" sz="516" dirty="0"/>
          </a:p>
        </p:txBody>
      </p:sp>
      <p:sp>
        <p:nvSpPr>
          <p:cNvPr id="35" name="Shape 32"/>
          <p:cNvSpPr/>
          <p:nvPr/>
        </p:nvSpPr>
        <p:spPr>
          <a:xfrm>
            <a:off x="4872038" y="1655983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72038" y="1655983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T9</a:t>
            </a:r>
            <a:endParaRPr lang="en-US" sz="516" dirty="0"/>
          </a:p>
        </p:txBody>
      </p:sp>
      <p:sp>
        <p:nvSpPr>
          <p:cNvPr id="37" name="Shape 34"/>
          <p:cNvSpPr/>
          <p:nvPr/>
        </p:nvSpPr>
        <p:spPr>
          <a:xfrm>
            <a:off x="5309592" y="1655983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309592" y="1655983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T10</a:t>
            </a:r>
            <a:endParaRPr lang="en-US" sz="516" dirty="0"/>
          </a:p>
        </p:txBody>
      </p:sp>
      <p:sp>
        <p:nvSpPr>
          <p:cNvPr id="39" name="Shape 36"/>
          <p:cNvSpPr/>
          <p:nvPr/>
        </p:nvSpPr>
        <p:spPr>
          <a:xfrm>
            <a:off x="5747147" y="1655983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747147" y="1655983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T11</a:t>
            </a:r>
            <a:endParaRPr lang="en-US" sz="516" dirty="0"/>
          </a:p>
        </p:txBody>
      </p:sp>
      <p:sp>
        <p:nvSpPr>
          <p:cNvPr id="41" name="Shape 38"/>
          <p:cNvSpPr/>
          <p:nvPr/>
        </p:nvSpPr>
        <p:spPr>
          <a:xfrm>
            <a:off x="6184702" y="1655983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184702" y="1655983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T12</a:t>
            </a:r>
            <a:endParaRPr lang="en-US" sz="516" dirty="0"/>
          </a:p>
        </p:txBody>
      </p:sp>
      <p:sp>
        <p:nvSpPr>
          <p:cNvPr id="43" name="Shape 40"/>
          <p:cNvSpPr/>
          <p:nvPr/>
        </p:nvSpPr>
        <p:spPr>
          <a:xfrm>
            <a:off x="6622256" y="1655983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622256" y="1655983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T13</a:t>
            </a:r>
            <a:endParaRPr lang="en-US" sz="516" dirty="0"/>
          </a:p>
        </p:txBody>
      </p:sp>
      <p:sp>
        <p:nvSpPr>
          <p:cNvPr id="45" name="Shape 42"/>
          <p:cNvSpPr/>
          <p:nvPr/>
        </p:nvSpPr>
        <p:spPr>
          <a:xfrm>
            <a:off x="7059811" y="1655983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059811" y="1655983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T14</a:t>
            </a:r>
            <a:endParaRPr lang="en-US" sz="516" dirty="0"/>
          </a:p>
        </p:txBody>
      </p:sp>
      <p:sp>
        <p:nvSpPr>
          <p:cNvPr id="47" name="Shape 44"/>
          <p:cNvSpPr/>
          <p:nvPr/>
        </p:nvSpPr>
        <p:spPr>
          <a:xfrm>
            <a:off x="7497366" y="1655983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497366" y="1655983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T15</a:t>
            </a:r>
            <a:endParaRPr lang="en-US" sz="516" dirty="0"/>
          </a:p>
        </p:txBody>
      </p:sp>
      <p:sp>
        <p:nvSpPr>
          <p:cNvPr id="49" name="Shape 46"/>
          <p:cNvSpPr/>
          <p:nvPr/>
        </p:nvSpPr>
        <p:spPr>
          <a:xfrm>
            <a:off x="7934920" y="1655983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934920" y="1655983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T16</a:t>
            </a:r>
            <a:endParaRPr lang="en-US" sz="516" dirty="0"/>
          </a:p>
        </p:txBody>
      </p:sp>
      <p:sp>
        <p:nvSpPr>
          <p:cNvPr id="51" name="Shape 48"/>
          <p:cNvSpPr/>
          <p:nvPr/>
        </p:nvSpPr>
        <p:spPr>
          <a:xfrm>
            <a:off x="4872038" y="1956020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872038" y="1956020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T17</a:t>
            </a:r>
            <a:endParaRPr lang="en-US" sz="516" dirty="0"/>
          </a:p>
        </p:txBody>
      </p:sp>
      <p:sp>
        <p:nvSpPr>
          <p:cNvPr id="53" name="Shape 50"/>
          <p:cNvSpPr/>
          <p:nvPr/>
        </p:nvSpPr>
        <p:spPr>
          <a:xfrm>
            <a:off x="5309592" y="1956020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309592" y="1956020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T18</a:t>
            </a:r>
            <a:endParaRPr lang="en-US" sz="516" dirty="0"/>
          </a:p>
        </p:txBody>
      </p:sp>
      <p:sp>
        <p:nvSpPr>
          <p:cNvPr id="55" name="Shape 52"/>
          <p:cNvSpPr/>
          <p:nvPr/>
        </p:nvSpPr>
        <p:spPr>
          <a:xfrm>
            <a:off x="5747147" y="1956020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747147" y="1956020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T19</a:t>
            </a:r>
            <a:endParaRPr lang="en-US" sz="516" dirty="0"/>
          </a:p>
        </p:txBody>
      </p:sp>
      <p:sp>
        <p:nvSpPr>
          <p:cNvPr id="57" name="Shape 54"/>
          <p:cNvSpPr/>
          <p:nvPr/>
        </p:nvSpPr>
        <p:spPr>
          <a:xfrm>
            <a:off x="6184702" y="1956020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184702" y="1956020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T20</a:t>
            </a:r>
            <a:endParaRPr lang="en-US" sz="516" dirty="0"/>
          </a:p>
        </p:txBody>
      </p:sp>
      <p:sp>
        <p:nvSpPr>
          <p:cNvPr id="59" name="Shape 56"/>
          <p:cNvSpPr/>
          <p:nvPr/>
        </p:nvSpPr>
        <p:spPr>
          <a:xfrm>
            <a:off x="6622256" y="1956020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622256" y="1956020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T21</a:t>
            </a:r>
            <a:endParaRPr lang="en-US" sz="516" dirty="0"/>
          </a:p>
        </p:txBody>
      </p:sp>
      <p:sp>
        <p:nvSpPr>
          <p:cNvPr id="61" name="Shape 58"/>
          <p:cNvSpPr/>
          <p:nvPr/>
        </p:nvSpPr>
        <p:spPr>
          <a:xfrm>
            <a:off x="7059811" y="1956020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059811" y="1956020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T22</a:t>
            </a:r>
            <a:endParaRPr lang="en-US" sz="516" dirty="0"/>
          </a:p>
        </p:txBody>
      </p:sp>
      <p:sp>
        <p:nvSpPr>
          <p:cNvPr id="63" name="Shape 60"/>
          <p:cNvSpPr/>
          <p:nvPr/>
        </p:nvSpPr>
        <p:spPr>
          <a:xfrm>
            <a:off x="7497366" y="1956020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7497366" y="1956020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T23</a:t>
            </a:r>
            <a:endParaRPr lang="en-US" sz="516" dirty="0"/>
          </a:p>
        </p:txBody>
      </p:sp>
      <p:sp>
        <p:nvSpPr>
          <p:cNvPr id="65" name="Shape 62"/>
          <p:cNvSpPr/>
          <p:nvPr/>
        </p:nvSpPr>
        <p:spPr>
          <a:xfrm>
            <a:off x="7934920" y="1956020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7934920" y="1956020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T24</a:t>
            </a:r>
            <a:endParaRPr lang="en-US" sz="516" dirty="0"/>
          </a:p>
        </p:txBody>
      </p:sp>
      <p:sp>
        <p:nvSpPr>
          <p:cNvPr id="67" name="Shape 64"/>
          <p:cNvSpPr/>
          <p:nvPr/>
        </p:nvSpPr>
        <p:spPr>
          <a:xfrm>
            <a:off x="4872038" y="2256058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872038" y="2256058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T25</a:t>
            </a:r>
            <a:endParaRPr lang="en-US" sz="516" dirty="0"/>
          </a:p>
        </p:txBody>
      </p:sp>
      <p:sp>
        <p:nvSpPr>
          <p:cNvPr id="69" name="Shape 66"/>
          <p:cNvSpPr/>
          <p:nvPr/>
        </p:nvSpPr>
        <p:spPr>
          <a:xfrm>
            <a:off x="5309592" y="2256058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5309592" y="2256058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T26</a:t>
            </a:r>
            <a:endParaRPr lang="en-US" sz="516" dirty="0"/>
          </a:p>
        </p:txBody>
      </p:sp>
      <p:sp>
        <p:nvSpPr>
          <p:cNvPr id="71" name="Shape 68"/>
          <p:cNvSpPr/>
          <p:nvPr/>
        </p:nvSpPr>
        <p:spPr>
          <a:xfrm>
            <a:off x="5747147" y="2256058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747147" y="2256058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T27</a:t>
            </a:r>
            <a:endParaRPr lang="en-US" sz="516" dirty="0"/>
          </a:p>
        </p:txBody>
      </p:sp>
      <p:sp>
        <p:nvSpPr>
          <p:cNvPr id="73" name="Shape 70"/>
          <p:cNvSpPr/>
          <p:nvPr/>
        </p:nvSpPr>
        <p:spPr>
          <a:xfrm>
            <a:off x="6184702" y="2256058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6184702" y="2256058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T28</a:t>
            </a:r>
            <a:endParaRPr lang="en-US" sz="516" dirty="0"/>
          </a:p>
        </p:txBody>
      </p:sp>
      <p:sp>
        <p:nvSpPr>
          <p:cNvPr id="75" name="Shape 72"/>
          <p:cNvSpPr/>
          <p:nvPr/>
        </p:nvSpPr>
        <p:spPr>
          <a:xfrm>
            <a:off x="6622256" y="2256058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6622256" y="2256058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T29</a:t>
            </a:r>
            <a:endParaRPr lang="en-US" sz="516" dirty="0"/>
          </a:p>
        </p:txBody>
      </p:sp>
      <p:sp>
        <p:nvSpPr>
          <p:cNvPr id="77" name="Shape 74"/>
          <p:cNvSpPr/>
          <p:nvPr/>
        </p:nvSpPr>
        <p:spPr>
          <a:xfrm>
            <a:off x="7059811" y="2256058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7059811" y="2256058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T30</a:t>
            </a:r>
            <a:endParaRPr lang="en-US" sz="516" dirty="0"/>
          </a:p>
        </p:txBody>
      </p:sp>
      <p:sp>
        <p:nvSpPr>
          <p:cNvPr id="79" name="Shape 76"/>
          <p:cNvSpPr/>
          <p:nvPr/>
        </p:nvSpPr>
        <p:spPr>
          <a:xfrm>
            <a:off x="7497366" y="2256058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7497366" y="2256058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T31</a:t>
            </a:r>
            <a:endParaRPr lang="en-US" sz="516" dirty="0"/>
          </a:p>
        </p:txBody>
      </p:sp>
      <p:sp>
        <p:nvSpPr>
          <p:cNvPr id="81" name="Shape 78"/>
          <p:cNvSpPr/>
          <p:nvPr/>
        </p:nvSpPr>
        <p:spPr>
          <a:xfrm>
            <a:off x="7934920" y="2256058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7934920" y="2256058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T32</a:t>
            </a:r>
            <a:endParaRPr lang="en-US" sz="516" dirty="0"/>
          </a:p>
        </p:txBody>
      </p:sp>
      <p:sp>
        <p:nvSpPr>
          <p:cNvPr id="83" name="Shape 80"/>
          <p:cNvSpPr/>
          <p:nvPr/>
        </p:nvSpPr>
        <p:spPr>
          <a:xfrm>
            <a:off x="4872038" y="2556095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4872038" y="2556095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T33</a:t>
            </a:r>
            <a:endParaRPr lang="en-US" sz="516" dirty="0"/>
          </a:p>
        </p:txBody>
      </p:sp>
      <p:sp>
        <p:nvSpPr>
          <p:cNvPr id="85" name="Shape 82"/>
          <p:cNvSpPr/>
          <p:nvPr/>
        </p:nvSpPr>
        <p:spPr>
          <a:xfrm>
            <a:off x="5309592" y="2556095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5309592" y="2556095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T34</a:t>
            </a:r>
            <a:endParaRPr lang="en-US" sz="516" dirty="0"/>
          </a:p>
        </p:txBody>
      </p:sp>
      <p:sp>
        <p:nvSpPr>
          <p:cNvPr id="87" name="Shape 84"/>
          <p:cNvSpPr/>
          <p:nvPr/>
        </p:nvSpPr>
        <p:spPr>
          <a:xfrm>
            <a:off x="5747147" y="2556095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5747147" y="2556095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T35</a:t>
            </a:r>
            <a:endParaRPr lang="en-US" sz="516" dirty="0"/>
          </a:p>
        </p:txBody>
      </p:sp>
      <p:sp>
        <p:nvSpPr>
          <p:cNvPr id="89" name="Shape 86"/>
          <p:cNvSpPr/>
          <p:nvPr/>
        </p:nvSpPr>
        <p:spPr>
          <a:xfrm>
            <a:off x="6184702" y="2556095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6184702" y="2556095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T36</a:t>
            </a:r>
            <a:endParaRPr lang="en-US" sz="516" dirty="0"/>
          </a:p>
        </p:txBody>
      </p:sp>
      <p:sp>
        <p:nvSpPr>
          <p:cNvPr id="91" name="Shape 88"/>
          <p:cNvSpPr/>
          <p:nvPr/>
        </p:nvSpPr>
        <p:spPr>
          <a:xfrm>
            <a:off x="6622256" y="2556095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6622256" y="2556095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T37</a:t>
            </a:r>
            <a:endParaRPr lang="en-US" sz="516" dirty="0"/>
          </a:p>
        </p:txBody>
      </p:sp>
      <p:sp>
        <p:nvSpPr>
          <p:cNvPr id="93" name="Shape 90"/>
          <p:cNvSpPr/>
          <p:nvPr/>
        </p:nvSpPr>
        <p:spPr>
          <a:xfrm>
            <a:off x="7059811" y="2556095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7059811" y="2556095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T38</a:t>
            </a:r>
            <a:endParaRPr lang="en-US" sz="516" dirty="0"/>
          </a:p>
        </p:txBody>
      </p:sp>
      <p:sp>
        <p:nvSpPr>
          <p:cNvPr id="95" name="Shape 92"/>
          <p:cNvSpPr/>
          <p:nvPr/>
        </p:nvSpPr>
        <p:spPr>
          <a:xfrm>
            <a:off x="7497366" y="2556095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7497366" y="2556095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T39</a:t>
            </a:r>
            <a:endParaRPr lang="en-US" sz="516" dirty="0"/>
          </a:p>
        </p:txBody>
      </p:sp>
      <p:sp>
        <p:nvSpPr>
          <p:cNvPr id="97" name="Shape 94"/>
          <p:cNvSpPr/>
          <p:nvPr/>
        </p:nvSpPr>
        <p:spPr>
          <a:xfrm>
            <a:off x="7934920" y="2556095"/>
            <a:ext cx="271463" cy="271463"/>
          </a:xfrm>
          <a:prstGeom prst="rect">
            <a:avLst/>
          </a:prstGeom>
          <a:solidFill>
            <a:srgbClr val="E6F0FF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7934920" y="2556095"/>
            <a:ext cx="2714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T40</a:t>
            </a:r>
            <a:endParaRPr lang="en-US" sz="516" dirty="0"/>
          </a:p>
        </p:txBody>
      </p:sp>
      <p:sp>
        <p:nvSpPr>
          <p:cNvPr id="99" name="Text 96"/>
          <p:cNvSpPr/>
          <p:nvPr/>
        </p:nvSpPr>
        <p:spPr>
          <a:xfrm>
            <a:off x="4872038" y="2856133"/>
            <a:ext cx="3457575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 Task = 1 Thread Occupied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0075" y="646928"/>
            <a:ext cx="8515350" cy="33039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async def vs def：メモリと挙動の比較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607219" y="1098770"/>
            <a:ext cx="1189434" cy="31253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607219" y="1098770"/>
            <a:ext cx="1189434" cy="31253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種類</a:t>
            </a:r>
            <a:endParaRPr lang="en-US" sz="885" dirty="0"/>
          </a:p>
        </p:txBody>
      </p:sp>
      <p:sp>
        <p:nvSpPr>
          <p:cNvPr id="6" name="Shape 3"/>
          <p:cNvSpPr/>
          <p:nvPr/>
        </p:nvSpPr>
        <p:spPr>
          <a:xfrm>
            <a:off x="1796653" y="1098770"/>
            <a:ext cx="1585913" cy="31253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4"/>
          <p:cNvSpPr/>
          <p:nvPr/>
        </p:nvSpPr>
        <p:spPr>
          <a:xfrm>
            <a:off x="1796653" y="1098770"/>
            <a:ext cx="1585913" cy="31253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実行場所</a:t>
            </a:r>
            <a:endParaRPr lang="en-US" sz="885" dirty="0"/>
          </a:p>
        </p:txBody>
      </p:sp>
      <p:sp>
        <p:nvSpPr>
          <p:cNvPr id="8" name="Shape 5"/>
          <p:cNvSpPr/>
          <p:nvPr/>
        </p:nvSpPr>
        <p:spPr>
          <a:xfrm>
            <a:off x="3382566" y="1098770"/>
            <a:ext cx="1982391" cy="31253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3382566" y="1098770"/>
            <a:ext cx="1982391" cy="31253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メモリの使われ方</a:t>
            </a:r>
            <a:endParaRPr lang="en-US" sz="885" dirty="0"/>
          </a:p>
        </p:txBody>
      </p:sp>
      <p:sp>
        <p:nvSpPr>
          <p:cNvPr id="10" name="Shape 7"/>
          <p:cNvSpPr/>
          <p:nvPr/>
        </p:nvSpPr>
        <p:spPr>
          <a:xfrm>
            <a:off x="5364956" y="1098770"/>
            <a:ext cx="3171825" cy="31253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8"/>
          <p:cNvSpPr/>
          <p:nvPr/>
        </p:nvSpPr>
        <p:spPr>
          <a:xfrm>
            <a:off x="5364956" y="1098770"/>
            <a:ext cx="3171825" cy="31253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処理のイメージ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700088" y="1480961"/>
            <a:ext cx="596503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52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async def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1796653" y="1411309"/>
            <a:ext cx="1585913" cy="53287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イベントループ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3471863" y="1480961"/>
            <a:ext cx="900113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非常に効率的。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3471863" y="1686678"/>
            <a:ext cx="1357313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1つのスレッドを共有。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5364956" y="1411309"/>
            <a:ext cx="3171825" cy="53287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1人の料理人が、コンロを何個も同時に監視する（I/O待ちを有効活用）。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700088" y="2013840"/>
            <a:ext cx="203597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52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def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1796653" y="1944188"/>
            <a:ext cx="1585913" cy="53645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スレッドプール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3471863" y="2013840"/>
            <a:ext cx="900113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スレッドごとに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3471863" y="2219558"/>
            <a:ext cx="166628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「スタックメモリ」を消費。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5364956" y="1944188"/>
            <a:ext cx="3171825" cy="53645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注文ごとに別の料理人を呼んで、1つの鍋を専有させる。</a:t>
            </a:r>
            <a:endParaRPr lang="en-US" sz="942" dirty="0"/>
          </a:p>
        </p:txBody>
      </p:sp>
      <p:sp>
        <p:nvSpPr>
          <p:cNvPr id="22" name="Shape 19"/>
          <p:cNvSpPr/>
          <p:nvPr/>
        </p:nvSpPr>
        <p:spPr>
          <a:xfrm>
            <a:off x="600075" y="2544933"/>
            <a:ext cx="7943850" cy="530423"/>
          </a:xfrm>
          <a:prstGeom prst="rect">
            <a:avLst/>
          </a:prstGeom>
          <a:solidFill>
            <a:srgbClr val="F0F4FF"/>
          </a:solidFill>
          <a:ln w="18288">
            <a:solidFill>
              <a:srgbClr val="0052CC"/>
            </a:solidFill>
            <a:prstDash val="dash"/>
          </a:ln>
        </p:spPr>
      </p:sp>
      <p:sp>
        <p:nvSpPr>
          <p:cNvPr id="23" name="Text 20"/>
          <p:cNvSpPr/>
          <p:nvPr/>
        </p:nvSpPr>
        <p:spPr>
          <a:xfrm>
            <a:off x="685800" y="2730671"/>
            <a:ext cx="777240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💡 ポイント: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箱の使い分けでリソース効率の差が明確になります。</a:t>
            </a:r>
            <a:endParaRPr lang="en-US" sz="88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7225" y="704078"/>
            <a:ext cx="8515350" cy="33039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リクエストが到着した時の「処理フロー」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657225" y="1298795"/>
            <a:ext cx="1743075" cy="971550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28663" y="1205926"/>
            <a:ext cx="235744" cy="13215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3"/>
          <p:cNvSpPr/>
          <p:nvPr/>
        </p:nvSpPr>
        <p:spPr>
          <a:xfrm>
            <a:off x="728663" y="1205926"/>
            <a:ext cx="235744" cy="132159"/>
          </a:xfrm>
          <a:prstGeom prst="rect">
            <a:avLst/>
          </a:prstGeom>
          <a:noFill/>
          <a:ln/>
        </p:spPr>
        <p:txBody>
          <a:bodyPr wrap="none" lIns="68072" tIns="0" rIns="68072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728663" y="1470245"/>
            <a:ext cx="157162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リクエスト到着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728663" y="1748851"/>
            <a:ext cx="157162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Uvicornがリクエストを受信</a:t>
            </a:r>
            <a:endParaRPr lang="en-US" sz="727" dirty="0"/>
          </a:p>
        </p:txBody>
      </p:sp>
      <p:sp>
        <p:nvSpPr>
          <p:cNvPr id="9" name="Shape 6"/>
          <p:cNvSpPr/>
          <p:nvPr/>
        </p:nvSpPr>
        <p:spPr>
          <a:xfrm>
            <a:off x="3119419" y="1777426"/>
            <a:ext cx="28575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Shape 7"/>
          <p:cNvSpPr/>
          <p:nvPr/>
        </p:nvSpPr>
        <p:spPr>
          <a:xfrm>
            <a:off x="4152863" y="1298795"/>
            <a:ext cx="1743075" cy="971550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43388" y="1205926"/>
            <a:ext cx="235744" cy="13215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4243388" y="1205926"/>
            <a:ext cx="235744" cy="132159"/>
          </a:xfrm>
          <a:prstGeom prst="rect">
            <a:avLst/>
          </a:prstGeom>
          <a:noFill/>
          <a:ln/>
        </p:spPr>
        <p:txBody>
          <a:bodyPr wrap="none" lIns="68072" tIns="0" rIns="68072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4243388" y="1470245"/>
            <a:ext cx="157162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イベントループが判定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4243388" y="1748851"/>
            <a:ext cx="157162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async def か def かを確認</a:t>
            </a:r>
            <a:endParaRPr lang="en-US" sz="727" dirty="0"/>
          </a:p>
        </p:txBody>
      </p:sp>
      <p:sp>
        <p:nvSpPr>
          <p:cNvPr id="15" name="Shape 12"/>
          <p:cNvSpPr/>
          <p:nvPr/>
        </p:nvSpPr>
        <p:spPr>
          <a:xfrm>
            <a:off x="6643688" y="1291651"/>
            <a:ext cx="1957388" cy="428625"/>
          </a:xfrm>
          <a:prstGeom prst="rect">
            <a:avLst/>
          </a:prstGeom>
          <a:solidFill>
            <a:srgbClr val="F0F4FF"/>
          </a:solidFill>
          <a:ln w="18288">
            <a:solidFill>
              <a:srgbClr val="0052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43688" y="1291651"/>
            <a:ext cx="1957388" cy="428625"/>
          </a:xfrm>
          <a:prstGeom prst="rect">
            <a:avLst/>
          </a:prstGeom>
          <a:noFill/>
          <a:ln/>
        </p:spPr>
        <p:txBody>
          <a:bodyPr wrap="square" lIns="85090" tIns="85090" rIns="8509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async def なら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pPr algn="l" indent="0" marL="0">
              <a:lnSpc>
                <a:spcPts val="1100"/>
              </a:lnSpc>
              <a:buNone/>
            </a:pP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そのままループ内で実行（最速）</a:t>
            </a:r>
            <a:pPr algn="l" indent="0" marL="0">
              <a:lnSpc>
                <a:spcPts val="1100"/>
              </a:lnSpc>
              <a:buNone/>
            </a:pPr>
            <a:endParaRPr lang="en-US" sz="834" dirty="0"/>
          </a:p>
        </p:txBody>
      </p:sp>
      <p:sp>
        <p:nvSpPr>
          <p:cNvPr id="17" name="Shape 14"/>
          <p:cNvSpPr/>
          <p:nvPr/>
        </p:nvSpPr>
        <p:spPr>
          <a:xfrm>
            <a:off x="6643688" y="1820289"/>
            <a:ext cx="1957388" cy="428625"/>
          </a:xfrm>
          <a:prstGeom prst="rect">
            <a:avLst/>
          </a:prstGeom>
          <a:solidFill>
            <a:srgbClr val="F5F5F5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43688" y="1820289"/>
            <a:ext cx="1957388" cy="428625"/>
          </a:xfrm>
          <a:prstGeom prst="rect">
            <a:avLst/>
          </a:prstGeom>
          <a:noFill/>
          <a:ln/>
        </p:spPr>
        <p:txBody>
          <a:bodyPr wrap="square" lIns="85090" tIns="85090" rIns="8509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def なら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pPr algn="l" indent="0" marL="0">
              <a:lnSpc>
                <a:spcPts val="1100"/>
              </a:lnSpc>
              <a:buNone/>
            </a:pP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スレッドプールの箱へ移動</a:t>
            </a:r>
            <a:pPr algn="l" indent="0" marL="0">
              <a:lnSpc>
                <a:spcPts val="1100"/>
              </a:lnSpc>
              <a:buNone/>
            </a:pPr>
            <a:endParaRPr lang="en-US" sz="834" dirty="0"/>
          </a:p>
        </p:txBody>
      </p:sp>
      <p:sp>
        <p:nvSpPr>
          <p:cNvPr id="19" name="Shape 16"/>
          <p:cNvSpPr/>
          <p:nvPr/>
        </p:nvSpPr>
        <p:spPr>
          <a:xfrm>
            <a:off x="657225" y="2320351"/>
            <a:ext cx="7943850" cy="1064419"/>
          </a:xfrm>
          <a:prstGeom prst="rect">
            <a:avLst/>
          </a:prstGeom>
          <a:solidFill>
            <a:srgbClr val="F9F9F9"/>
          </a:solidFill>
          <a:ln w="18288">
            <a:solidFill>
              <a:srgbClr val="333333"/>
            </a:solidFill>
            <a:prstDash val="dash"/>
          </a:ln>
        </p:spPr>
      </p:sp>
      <p:sp>
        <p:nvSpPr>
          <p:cNvPr id="20" name="Text 17"/>
          <p:cNvSpPr/>
          <p:nvPr/>
        </p:nvSpPr>
        <p:spPr>
          <a:xfrm>
            <a:off x="871538" y="2534664"/>
            <a:ext cx="1475184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📦 キュー待機の発生条件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871538" y="2850775"/>
            <a:ext cx="3116461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スレッドプール（最大40）が全て埋まっている状態で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3987998" y="2850775"/>
            <a:ext cx="407194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41個目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4395192" y="2850775"/>
            <a:ext cx="18573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4580930" y="2865062"/>
            <a:ext cx="2314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def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4812404" y="2850775"/>
            <a:ext cx="349508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リクエストが来ると、前の仕事が終わるまでメモリ上のキュ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871538" y="3040084"/>
            <a:ext cx="1394817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ーで待機させられます。</a:t>
            </a:r>
            <a:endParaRPr lang="en-US" sz="94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0075" y="646928"/>
            <a:ext cx="8515350" cy="33039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なぜ「async def でブロッキング」が危険なのか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600075" y="1220214"/>
            <a:ext cx="3886200" cy="254317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1525" y="1520251"/>
            <a:ext cx="354330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✅ 正常な状態 (def)</a:t>
            </a:r>
            <a:endParaRPr lang="en-US" sz="1090" dirty="0"/>
          </a:p>
        </p:txBody>
      </p:sp>
      <p:sp>
        <p:nvSpPr>
          <p:cNvPr id="6" name="Text 3"/>
          <p:cNvSpPr/>
          <p:nvPr/>
        </p:nvSpPr>
        <p:spPr>
          <a:xfrm>
            <a:off x="771525" y="1866723"/>
            <a:ext cx="35433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イベントループ（ドア担当者）は、重い処理をスレッドプール（奥の部屋）に丸投げします。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771525" y="2363884"/>
            <a:ext cx="3543300" cy="421481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「これは時間がかかるから奥でやってきて」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担当者はすぐに次のドアを開けに行ける。</a:t>
            </a:r>
            <a:endParaRPr lang="en-US" sz="834" dirty="0"/>
          </a:p>
        </p:txBody>
      </p:sp>
      <p:sp>
        <p:nvSpPr>
          <p:cNvPr id="8" name="Shape 5"/>
          <p:cNvSpPr/>
          <p:nvPr/>
        </p:nvSpPr>
        <p:spPr>
          <a:xfrm>
            <a:off x="4657725" y="1220214"/>
            <a:ext cx="3886200" cy="2543175"/>
          </a:xfrm>
          <a:prstGeom prst="rect">
            <a:avLst/>
          </a:prstGeom>
          <a:solidFill>
            <a:srgbClr val="FFFFFF"/>
          </a:solidFill>
          <a:ln w="18288">
            <a:solidFill>
              <a:srgbClr val="FF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29175" y="1520251"/>
            <a:ext cx="354330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❌ 危険な状態 (async def)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4829175" y="1875653"/>
            <a:ext cx="1405533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イベントループ自身が、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6234708" y="1889940"/>
            <a:ext cx="69439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async def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6929103" y="1875653"/>
            <a:ext cx="131445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の中で重い計算（ブロ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4829175" y="1875653"/>
            <a:ext cx="3542965" cy="402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ッキング）を始めてしまいます。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4829175" y="2372813"/>
            <a:ext cx="3543300" cy="421481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担当者がドアの前で作業を始めてしまう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誰もドアを開けられず、外は大行列に。</a:t>
            </a:r>
            <a:endParaRPr lang="en-US" sz="834" dirty="0"/>
          </a:p>
        </p:txBody>
      </p:sp>
      <p:sp>
        <p:nvSpPr>
          <p:cNvPr id="15" name="Shape 12"/>
          <p:cNvSpPr/>
          <p:nvPr/>
        </p:nvSpPr>
        <p:spPr>
          <a:xfrm>
            <a:off x="600075" y="4120576"/>
            <a:ext cx="7943850" cy="29289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3"/>
          <p:cNvSpPr/>
          <p:nvPr/>
        </p:nvSpPr>
        <p:spPr>
          <a:xfrm>
            <a:off x="600075" y="4120576"/>
            <a:ext cx="7943850" cy="292894"/>
          </a:xfrm>
          <a:prstGeom prst="rect">
            <a:avLst/>
          </a:prstGeom>
          <a:noFill/>
          <a:ln/>
        </p:spPr>
        <p:txBody>
          <a:bodyPr wrap="square" lIns="255143" tIns="102108" rIns="255143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これが「イベントループの停止」であり、サーバー全体の応答不能を招きます。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0075" y="646928"/>
            <a:ext cx="8515350" cy="33039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賢い使い分け：指揮者がやるか、丸投げするか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600075" y="1205926"/>
            <a:ext cx="3886200" cy="157162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4375" y="1477389"/>
            <a:ext cx="365760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52C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async def を使うべき時</a:t>
            </a:r>
            <a:endParaRPr lang="en-US" sz="1090" dirty="0"/>
          </a:p>
        </p:txBody>
      </p:sp>
      <p:sp>
        <p:nvSpPr>
          <p:cNvPr id="6" name="Text 3"/>
          <p:cNvSpPr/>
          <p:nvPr/>
        </p:nvSpPr>
        <p:spPr>
          <a:xfrm>
            <a:off x="714375" y="1780998"/>
            <a:ext cx="3657600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I/O待ち（DB、外部API）が多い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714375" y="2012445"/>
            <a:ext cx="3657600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非同期ライブラリが利用可能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714375" y="2243891"/>
            <a:ext cx="3657600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リクエストを最速でさばきたい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4657725" y="1205926"/>
            <a:ext cx="3886200" cy="157162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72025" y="1477389"/>
            <a:ext cx="365760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52C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def を使うべき時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4772025" y="1780998"/>
            <a:ext cx="3657600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CPU負荷の高い計算処理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4772025" y="2012445"/>
            <a:ext cx="3657600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非同期非対応の古いライブラリ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4772025" y="2243891"/>
            <a:ext cx="3657600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「奥の部屋」に隔離したい処理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600075" y="2920426"/>
            <a:ext cx="7943850" cy="962202"/>
          </a:xfrm>
          <a:prstGeom prst="rect">
            <a:avLst/>
          </a:prstGeom>
          <a:solidFill>
            <a:srgbClr val="F9F9F9"/>
          </a:solidFill>
          <a:ln w="18288">
            <a:solidFill>
              <a:srgbClr val="333333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742950" y="3196158"/>
            <a:ext cx="765810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🛡️ AnyIO CapacityLimiter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742950" y="3442618"/>
            <a:ext cx="76581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スレッドプールの箱が溢れないように見張る「番人」です。リソースの枯渇を防ぎ、システムの安定性を維持する重要な役割を担っています。</a:t>
            </a:r>
            <a:endParaRPr lang="en-US" sz="94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0075" y="646928"/>
            <a:ext cx="8515350" cy="33039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まとめ：メモリの箱を最適化しよう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57200" y="1191639"/>
            <a:ext cx="4029075" cy="1600200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0075" y="1505964"/>
            <a:ext cx="3743325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2C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01. イベントループ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600075" y="1875653"/>
            <a:ext cx="3743325" cy="694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pPr algn="l" indent="0" marL="0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個数:</a:t>
            </a:r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1つだけ</a:t>
            </a:r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pPr algn="l" indent="0" marL="0">
              <a:lnSpc>
                <a:spcPts val="1800"/>
              </a:lnSpc>
              <a:buNone/>
            </a:pPr>
            <a:pPr algn="l" indent="0" marL="0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役割:</a:t>
            </a:r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常に軽快に動かし続けるべき場所。</a:t>
            </a:r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pPr algn="l" indent="0" marL="0">
              <a:lnSpc>
                <a:spcPts val="1800"/>
              </a:lnSpc>
              <a:buNone/>
            </a:pPr>
            <a:pPr algn="l" indent="0" marL="0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注意:</a:t>
            </a:r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ブロッキング処理は厳禁。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4657725" y="1191639"/>
            <a:ext cx="4029075" cy="1600200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00600" y="1505964"/>
            <a:ext cx="3743325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2C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02. スレッドプール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4800600" y="1875653"/>
            <a:ext cx="3743325" cy="694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pPr algn="l" indent="0" marL="0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個数:</a:t>
            </a:r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最大40個（デフォルト）</a:t>
            </a:r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pPr algn="l" indent="0" marL="0">
              <a:lnSpc>
                <a:spcPts val="1800"/>
              </a:lnSpc>
              <a:buNone/>
            </a:pPr>
            <a:pPr algn="l" indent="0" marL="0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役割:</a:t>
            </a:r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「重い・古い」処理を隔離する場所。</a:t>
            </a:r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pPr algn="l" indent="0" marL="0">
              <a:lnSpc>
                <a:spcPts val="1800"/>
              </a:lnSpc>
              <a:buNone/>
            </a:pPr>
            <a:pPr algn="l" indent="0" marL="0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注意:</a:t>
            </a:r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溢れないよう番人（Limiter）が見張る。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457200" y="2977576"/>
            <a:ext cx="8229600" cy="682228"/>
          </a:xfrm>
          <a:prstGeom prst="rect">
            <a:avLst/>
          </a:prstGeom>
          <a:solidFill>
            <a:srgbClr val="1A1A1A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977576"/>
            <a:ext cx="8229600" cy="682228"/>
          </a:xfrm>
          <a:prstGeom prst="rect">
            <a:avLst/>
          </a:prstGeom>
          <a:noFill/>
          <a:ln/>
        </p:spPr>
        <p:txBody>
          <a:bodyPr wrap="square" lIns="255143" tIns="170053" rIns="255143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「指揮者が自分でやるか、奥の部屋の担当に投げるか」</a:t>
            </a:r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この判断が、FastAPIのパフォーマンスの鍵を握っています。</a:t>
            </a:r>
            <a:endParaRPr lang="en-US" sz="119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2026-03-15T08:14:11Z</dcterms:created>
  <dcterms:modified xsi:type="dcterms:W3CDTF">2026-03-15T08:14:11Z</dcterms:modified>
</cp:coreProperties>
</file>